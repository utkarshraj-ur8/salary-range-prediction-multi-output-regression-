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legraf Bold" charset="1" panose="00000800000000000000"/>
      <p:regular r:id="rId18"/>
    </p:embeddedFont>
    <p:embeddedFont>
      <p:font typeface="Telegra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1622" y="0"/>
            <a:ext cx="18409622" cy="12265411"/>
          </a:xfrm>
          <a:custGeom>
            <a:avLst/>
            <a:gdLst/>
            <a:ahLst/>
            <a:cxnLst/>
            <a:rect r="r" b="b" t="t" l="l"/>
            <a:pathLst>
              <a:path h="12265411" w="18409622">
                <a:moveTo>
                  <a:pt x="0" y="0"/>
                </a:moveTo>
                <a:lnTo>
                  <a:pt x="18409622" y="0"/>
                </a:lnTo>
                <a:lnTo>
                  <a:pt x="18409622" y="12265411"/>
                </a:lnTo>
                <a:lnTo>
                  <a:pt x="0" y="12265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296400" y="1543050"/>
            <a:ext cx="8062912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b="true" sz="9000" spc="-8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NYC </a:t>
            </a:r>
            <a:r>
              <a:rPr lang="en-US" b="true" sz="9000" spc="-8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Job Salary Range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9144000"/>
            <a:ext cx="83248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sz="3000" spc="-3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Presented by UTKARSH RAJ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8E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60261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0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053388" y="2432362"/>
            <a:ext cx="9205912" cy="746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Core Prob</a:t>
            </a:r>
            <a:r>
              <a:rPr lang="en-US" b="true" sz="2500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lem: 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NYC posts 5,120+ diverse jobs yearly (e.g., agencies like Dept. of Correction 400+), but manual salary estimation is biased/inconsistent—e.g., $0–$252k ranges, high variability from 1,781 unique Business T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tles.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Issues from Data: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Sk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wed 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sa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lar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es (Fr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 mea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$64.6k, To $90k; positive skew 0.59/0.37); missing data (e.g., 100% in Recruitment Contact); outliers (e.g., 150 positions max); imbalances (e.g., rare Job Categories &lt;2 samples).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Business Pain Points</a:t>
            </a:r>
            <a:r>
              <a:rPr lang="en-US" sz="2500" spc="-25">
                <a:solidFill>
                  <a:srgbClr val="007ACC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Delays in equitable budgeting/recruitment; bias risks (e.g., underpay in senior levels &gt;$150k); 2025 hiring surges demand automation.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Opportunity:</a:t>
            </a:r>
            <a:r>
              <a:rPr lang="en-US" sz="2500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ML predicts ranges to cut errors 20–30%, enhance transparency (91% postings require "experience")</a:t>
            </a:r>
          </a:p>
          <a:p>
            <a:pPr algn="l" marL="0" indent="0" lvl="0">
              <a:lnSpc>
                <a:spcPts val="35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053388" y="306388"/>
            <a:ext cx="9578608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Hi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ring Challenges in NYC Public Sector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0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100263"/>
            <a:ext cx="18288000" cy="7429500"/>
          </a:xfrm>
          <a:custGeom>
            <a:avLst/>
            <a:gdLst/>
            <a:ahLst/>
            <a:cxnLst/>
            <a:rect r="r" b="b" t="t" l="l"/>
            <a:pathLst>
              <a:path h="7429500" w="18288000">
                <a:moveTo>
                  <a:pt x="0" y="0"/>
                </a:moveTo>
                <a:lnTo>
                  <a:pt x="18288000" y="0"/>
                </a:lnTo>
                <a:lnTo>
                  <a:pt x="1828800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064" r="0" b="-115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7831" y="488950"/>
            <a:ext cx="14892338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t Objectives and Metrics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90C8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45171" y="284024"/>
            <a:ext cx="10376079" cy="3664415"/>
          </a:xfrm>
          <a:custGeom>
            <a:avLst/>
            <a:gdLst/>
            <a:ahLst/>
            <a:cxnLst/>
            <a:rect r="r" b="b" t="t" l="l"/>
            <a:pathLst>
              <a:path h="3664415" w="10376079">
                <a:moveTo>
                  <a:pt x="0" y="0"/>
                </a:moveTo>
                <a:lnTo>
                  <a:pt x="10376079" y="0"/>
                </a:lnTo>
                <a:lnTo>
                  <a:pt x="10376079" y="3664414"/>
                </a:lnTo>
                <a:lnTo>
                  <a:pt x="0" y="3664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45171" y="4186563"/>
            <a:ext cx="10376079" cy="5889594"/>
          </a:xfrm>
          <a:custGeom>
            <a:avLst/>
            <a:gdLst/>
            <a:ahLst/>
            <a:cxnLst/>
            <a:rect r="r" b="b" t="t" l="l"/>
            <a:pathLst>
              <a:path h="5889594" w="10376079">
                <a:moveTo>
                  <a:pt x="0" y="0"/>
                </a:moveTo>
                <a:lnTo>
                  <a:pt x="10376079" y="0"/>
                </a:lnTo>
                <a:lnTo>
                  <a:pt x="10376079" y="5889594"/>
                </a:lnTo>
                <a:lnTo>
                  <a:pt x="0" y="5889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5313" y="4081788"/>
            <a:ext cx="5591175" cy="539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 Overview:</a:t>
            </a:r>
          </a:p>
          <a:p>
            <a:pPr algn="l">
              <a:lnSpc>
                <a:spcPts val="3542"/>
              </a:lnSpc>
            </a:pPr>
            <a:r>
              <a:rPr lang="en-US" b="true" sz="2300" spc="-57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Num</a:t>
            </a:r>
            <a:r>
              <a:rPr lang="en-US" b="true" sz="2300" spc="-57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erical </a:t>
            </a:r>
            <a:r>
              <a:rPr lang="en-US" sz="2300" spc="-57">
                <a:solidFill>
                  <a:srgbClr val="007ACC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Of Positions (mean 2.07, max 150), Posting Duration (mean 42.6 days), Age (785 days), text lengths (Job Desc 3521 ch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ar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 m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an).</a:t>
            </a:r>
          </a:p>
          <a:p>
            <a:pPr algn="l">
              <a:lnSpc>
                <a:spcPts val="3542"/>
              </a:lnSpc>
            </a:pPr>
            <a:r>
              <a:rPr lang="en-US" b="true" sz="2300" spc="-57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</a:t>
            </a:r>
            <a:r>
              <a:rPr lang="en-US" sz="2300" spc="-57">
                <a:solidFill>
                  <a:srgbClr val="007ACC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Bu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iness Title (1781 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nique), Civil Se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rv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ic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Title (365), Job Categor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y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(183), Work Location (293 → 7 bor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gh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s),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et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>
              <a:lnSpc>
                <a:spcPts val="3542"/>
              </a:lnSpc>
            </a:pPr>
            <a:r>
              <a:rPr lang="en-US" b="true" sz="2300" spc="-57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Targets:</a:t>
            </a:r>
            <a:r>
              <a:rPr lang="en-US" sz="2300" spc="-57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From ($0–$225k, skew 0.59, kurtosis 3.58); To ($15–$252k, skew 0.37, kurtosis 0.60); strong corr. 0.76.</a:t>
            </a:r>
          </a:p>
          <a:p>
            <a:pPr algn="l">
              <a:lnSpc>
                <a:spcPts val="354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689225"/>
            <a:ext cx="5448300" cy="170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24" b="true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Source/Structure:</a:t>
            </a:r>
            <a:r>
              <a:rPr lang="en-US" sz="2400" spc="-24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 NY</a:t>
            </a:r>
            <a:r>
              <a:rPr lang="en-US" sz="2400" spc="-24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C Jobs CSV (5120 rows, 30 cols → 28 post-drops); targets float64, categoricals object (e.g., Agency 59 unique).</a:t>
            </a:r>
          </a:p>
          <a:p>
            <a:pPr algn="l" marL="0" indent="0" lvl="0">
              <a:lnSpc>
                <a:spcPts val="26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657225"/>
            <a:ext cx="5448300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Dataset Summary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35417" y="5494778"/>
            <a:ext cx="5709796" cy="4398833"/>
          </a:xfrm>
          <a:custGeom>
            <a:avLst/>
            <a:gdLst/>
            <a:ahLst/>
            <a:cxnLst/>
            <a:rect r="r" b="b" t="t" l="l"/>
            <a:pathLst>
              <a:path h="4398833" w="5709796">
                <a:moveTo>
                  <a:pt x="0" y="0"/>
                </a:moveTo>
                <a:lnTo>
                  <a:pt x="5709797" y="0"/>
                </a:lnTo>
                <a:lnTo>
                  <a:pt x="5709797" y="4398834"/>
                </a:lnTo>
                <a:lnTo>
                  <a:pt x="0" y="4398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22281" y="5494778"/>
            <a:ext cx="5613137" cy="4398833"/>
          </a:xfrm>
          <a:custGeom>
            <a:avLst/>
            <a:gdLst/>
            <a:ahLst/>
            <a:cxnLst/>
            <a:rect r="r" b="b" t="t" l="l"/>
            <a:pathLst>
              <a:path h="4398833" w="5613137">
                <a:moveTo>
                  <a:pt x="0" y="0"/>
                </a:moveTo>
                <a:lnTo>
                  <a:pt x="5613136" y="0"/>
                </a:lnTo>
                <a:lnTo>
                  <a:pt x="5613136" y="4398834"/>
                </a:lnTo>
                <a:lnTo>
                  <a:pt x="0" y="439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48613" y="1028700"/>
            <a:ext cx="8957138" cy="4277033"/>
          </a:xfrm>
          <a:custGeom>
            <a:avLst/>
            <a:gdLst/>
            <a:ahLst/>
            <a:cxnLst/>
            <a:rect r="r" b="b" t="t" l="l"/>
            <a:pathLst>
              <a:path h="4277033" w="8957138">
                <a:moveTo>
                  <a:pt x="0" y="0"/>
                </a:moveTo>
                <a:lnTo>
                  <a:pt x="8957137" y="0"/>
                </a:lnTo>
                <a:lnTo>
                  <a:pt x="8957137" y="4277033"/>
                </a:lnTo>
                <a:lnTo>
                  <a:pt x="0" y="427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086" y="2593975"/>
            <a:ext cx="6186488" cy="79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369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Num</a:t>
            </a: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erical Insights: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Salaries right-skewed (histograms show tail &gt;$150k); outliers in boxplots (e.g., From Q3 $80.6k,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ma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x $225k); Job ID unifo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 469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k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–629k.</a:t>
            </a:r>
          </a:p>
          <a:p>
            <a:pPr algn="l" marL="518163" indent="-259082" lvl="1">
              <a:lnSpc>
                <a:spcPts val="369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Highlights: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Top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Bu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iness Tit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es: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oj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ct Mana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ger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(63), C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se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Man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gemen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Supe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vi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or (62); Posting Type: External (majority); Career Level: Entry-Level dominant.</a:t>
            </a:r>
          </a:p>
          <a:p>
            <a:pPr algn="l" marL="518163" indent="-259082" lvl="1">
              <a:lnSpc>
                <a:spcPts val="369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Targets Focus: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From median $62.4k (kurtosis 3.58 → log needed); To median $85.1k; text lengths proxy complexity (Min Qual Req. 1077 chars mean).</a:t>
            </a:r>
          </a:p>
          <a:p>
            <a:pPr algn="l" marL="518163" indent="-259082" lvl="1">
              <a:lnSpc>
                <a:spcPts val="369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: Positive skew/outliers confirm log-transform; 91% require experience signals senior pay.</a:t>
            </a:r>
          </a:p>
          <a:p>
            <a:pPr algn="l" marL="0" indent="0" lvl="0">
              <a:lnSpc>
                <a:spcPts val="369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657225"/>
            <a:ext cx="7281862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DA - Univariate Distributions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43071" y="1189748"/>
            <a:ext cx="4914149" cy="3953752"/>
          </a:xfrm>
          <a:custGeom>
            <a:avLst/>
            <a:gdLst/>
            <a:ahLst/>
            <a:cxnLst/>
            <a:rect r="r" b="b" t="t" l="l"/>
            <a:pathLst>
              <a:path h="3953752" w="4914149">
                <a:moveTo>
                  <a:pt x="0" y="0"/>
                </a:moveTo>
                <a:lnTo>
                  <a:pt x="4914149" y="0"/>
                </a:lnTo>
                <a:lnTo>
                  <a:pt x="4914149" y="3953752"/>
                </a:lnTo>
                <a:lnTo>
                  <a:pt x="0" y="395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82630" y="1189748"/>
            <a:ext cx="5533741" cy="3953752"/>
          </a:xfrm>
          <a:custGeom>
            <a:avLst/>
            <a:gdLst/>
            <a:ahLst/>
            <a:cxnLst/>
            <a:rect r="r" b="b" t="t" l="l"/>
            <a:pathLst>
              <a:path h="3953752" w="5533741">
                <a:moveTo>
                  <a:pt x="0" y="0"/>
                </a:moveTo>
                <a:lnTo>
                  <a:pt x="5533740" y="0"/>
                </a:lnTo>
                <a:lnTo>
                  <a:pt x="5533740" y="3953752"/>
                </a:lnTo>
                <a:lnTo>
                  <a:pt x="0" y="3953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59851" y="5311518"/>
            <a:ext cx="9245556" cy="4492559"/>
          </a:xfrm>
          <a:custGeom>
            <a:avLst/>
            <a:gdLst/>
            <a:ahLst/>
            <a:cxnLst/>
            <a:rect r="r" b="b" t="t" l="l"/>
            <a:pathLst>
              <a:path h="4492559" w="9245556">
                <a:moveTo>
                  <a:pt x="0" y="0"/>
                </a:moveTo>
                <a:lnTo>
                  <a:pt x="9245557" y="0"/>
                </a:lnTo>
                <a:lnTo>
                  <a:pt x="9245557" y="4492559"/>
                </a:lnTo>
                <a:lnTo>
                  <a:pt x="0" y="4492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086" y="2784475"/>
            <a:ext cx="6186488" cy="575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417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alary vs. Career Level: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Boxplots: Entry ~$43k–$54k, Experienced ~$64k–$87k, Manager ~$90k–$145k, Executive ~$131k–$187k, Student ~$83k–$126k (low count).</a:t>
            </a:r>
          </a:p>
          <a:p>
            <a:pPr algn="l" marL="518163" indent="-259082" lvl="1">
              <a:lnSpc>
                <a:spcPts val="417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Correlations: 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Num heatmap: From-To r=0.76 (strong); weak others (e.g., Positions-From -0.09); no multicollinearity.</a:t>
            </a:r>
          </a:p>
          <a:p>
            <a:pPr algn="l" marL="518163" indent="-259082" lvl="1">
              <a:lnSpc>
                <a:spcPts val="4176"/>
              </a:lnSpc>
              <a:buFont typeface="Arial"/>
              <a:buChar char="•"/>
            </a:pPr>
            <a:r>
              <a:rPr lang="en-US" b="true" sz="2400" spc="-6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Patterns:</a:t>
            </a:r>
            <a:r>
              <a:rPr lang="en-US" sz="2400" spc="-60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Violin plots: Min salary higher for Internal postings; top agencies (DOC) skew high; Level (M2/M5) clusters mid-range.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657225"/>
            <a:ext cx="7281862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DA - Bivariate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8E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0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287662" y="757682"/>
            <a:ext cx="7052324" cy="8862568"/>
          </a:xfrm>
          <a:custGeom>
            <a:avLst/>
            <a:gdLst/>
            <a:ahLst/>
            <a:cxnLst/>
            <a:rect r="r" b="b" t="t" l="l"/>
            <a:pathLst>
              <a:path h="8862568" w="7052324">
                <a:moveTo>
                  <a:pt x="0" y="0"/>
                </a:moveTo>
                <a:lnTo>
                  <a:pt x="7052324" y="0"/>
                </a:lnTo>
                <a:lnTo>
                  <a:pt x="7052324" y="8862568"/>
                </a:lnTo>
                <a:lnTo>
                  <a:pt x="0" y="8862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82" r="0" b="-691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64662" y="2495550"/>
            <a:ext cx="10494638" cy="548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788" indent="-276894" lvl="1">
              <a:lnSpc>
                <a:spcPts val="4360"/>
              </a:lnSpc>
              <a:buFont typeface="Arial"/>
              <a:buChar char="•"/>
            </a:pPr>
            <a:r>
              <a:rPr lang="en-US" b="true" sz="2565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P</a:t>
            </a:r>
            <a:r>
              <a:rPr lang="en-US" b="true" sz="2565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reprocessing Details: 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50 output features; RobustScaler nums (outliers); OneHot low-card (e.g., C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ree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 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Level → 4 du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mi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es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); T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rge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Enc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der high-card (fitted on 1D mean-log y proxy for multi-output).</a:t>
            </a:r>
          </a:p>
          <a:p>
            <a:pPr algn="l" marL="553788" indent="-276894" lvl="1">
              <a:lnSpc>
                <a:spcPts val="4360"/>
              </a:lnSpc>
              <a:buFont typeface="Arial"/>
              <a:buChar char="•"/>
            </a:pPr>
            <a:r>
              <a:rPr lang="en-US" b="true" sz="2565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Handling Challenges: 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Text dropped (use lengths: e.g., 3521 Job Desc chars); multi-y (2D) via separate fits; no NaN/Inf post-transform (Train 4096x50, Test 1024x50).</a:t>
            </a:r>
          </a:p>
          <a:p>
            <a:pPr algn="l" marL="553788" indent="-276894" lvl="1">
              <a:lnSpc>
                <a:spcPts val="4360"/>
              </a:lnSpc>
              <a:buFont typeface="Arial"/>
              <a:buChar char="•"/>
            </a:pPr>
            <a:r>
              <a:rPr lang="en-US" b="true" sz="2565" spc="-25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Tools:</a:t>
            </a:r>
            <a:r>
              <a:rPr lang="en-US" sz="2565" spc="-25">
                <a:solidFill>
                  <a:srgbClr val="F5F0BB"/>
                </a:solidFill>
                <a:latin typeface="Telegraf"/>
                <a:ea typeface="Telegraf"/>
                <a:cs typeface="Telegraf"/>
                <a:sym typeface="Telegraf"/>
              </a:rPr>
              <a:t> scikit-learn Pipeline, category_encoders, XGBoost; warnings ignored for clean runs.</a:t>
            </a:r>
          </a:p>
          <a:p>
            <a:pPr algn="l" marL="0" indent="0" lvl="0">
              <a:lnSpc>
                <a:spcPts val="43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64662" y="748157"/>
            <a:ext cx="8324850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Pipe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line Workflow</a:t>
            </a:r>
          </a:p>
          <a:p>
            <a:pPr algn="l" marL="0" indent="0" lvl="0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8E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5F0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16502" y="1727200"/>
            <a:ext cx="8827498" cy="4303154"/>
          </a:xfrm>
          <a:custGeom>
            <a:avLst/>
            <a:gdLst/>
            <a:ahLst/>
            <a:cxnLst/>
            <a:rect r="r" b="b" t="t" l="l"/>
            <a:pathLst>
              <a:path h="4303154" w="8827498">
                <a:moveTo>
                  <a:pt x="0" y="0"/>
                </a:moveTo>
                <a:lnTo>
                  <a:pt x="8827498" y="0"/>
                </a:lnTo>
                <a:lnTo>
                  <a:pt x="8827498" y="4303154"/>
                </a:lnTo>
                <a:lnTo>
                  <a:pt x="0" y="4303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6502" y="6244666"/>
            <a:ext cx="8885392" cy="3800688"/>
          </a:xfrm>
          <a:custGeom>
            <a:avLst/>
            <a:gdLst/>
            <a:ahLst/>
            <a:cxnLst/>
            <a:rect r="r" b="b" t="t" l="l"/>
            <a:pathLst>
              <a:path h="3800688" w="8885392">
                <a:moveTo>
                  <a:pt x="0" y="0"/>
                </a:moveTo>
                <a:lnTo>
                  <a:pt x="8885392" y="0"/>
                </a:lnTo>
                <a:lnTo>
                  <a:pt x="8885392" y="3800689"/>
                </a:lnTo>
                <a:lnTo>
                  <a:pt x="0" y="380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96400" y="3011036"/>
            <a:ext cx="8324850" cy="564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4080"/>
              </a:lnSpc>
              <a:buFont typeface="Arial"/>
              <a:buChar char="•"/>
            </a:pP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Ap</a:t>
            </a: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proach:</a:t>
            </a:r>
            <a:r>
              <a:rPr lang="en-US" sz="2400" spc="-24">
                <a:solidFill>
                  <a:srgbClr val="C4DFAA"/>
                </a:solidFill>
                <a:latin typeface="Telegraf"/>
                <a:ea typeface="Telegraf"/>
                <a:cs typeface="Telegraf"/>
                <a:sym typeface="Telegraf"/>
              </a:rPr>
              <a:t> MultiOutputRegressor for joint From/To prediction (captures 0.76 corr.); 6 models tested on preprocessed data.</a:t>
            </a:r>
          </a:p>
          <a:p>
            <a:pPr algn="l" marL="518163" indent="-259082" lvl="1">
              <a:lnSpc>
                <a:spcPts val="4080"/>
              </a:lnSpc>
              <a:buFont typeface="Arial"/>
              <a:buChar char="•"/>
            </a:pP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B</a:t>
            </a: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aselines: </a:t>
            </a:r>
            <a:r>
              <a:rPr lang="en-US" sz="2400" spc="-24">
                <a:solidFill>
                  <a:srgbClr val="C4DFAA"/>
                </a:solidFill>
                <a:latin typeface="Telegraf"/>
                <a:ea typeface="Telegraf"/>
                <a:cs typeface="Telegraf"/>
                <a:sym typeface="Telegraf"/>
              </a:rPr>
              <a:t>LinearRegression (CV R² 93.6%), Ridge (93.6%).</a:t>
            </a:r>
          </a:p>
          <a:p>
            <a:pPr algn="l" marL="518163" indent="-259082" lvl="1">
              <a:lnSpc>
                <a:spcPts val="4080"/>
              </a:lnSpc>
              <a:buFont typeface="Arial"/>
              <a:buChar char="•"/>
            </a:pP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Advanced:</a:t>
            </a:r>
            <a:r>
              <a:rPr lang="en-US" sz="2400" spc="-24">
                <a:solidFill>
                  <a:srgbClr val="C4DFAA"/>
                </a:solidFill>
                <a:latin typeface="Telegraf"/>
                <a:ea typeface="Telegraf"/>
                <a:cs typeface="Telegraf"/>
                <a:sym typeface="Telegraf"/>
              </a:rPr>
              <a:t> DecisionTree (CV 98.3%), RandomForest (98.9%), GradientBoosting (99.1%), XGBoost (98.%7)—ensembles for non-linear titles/locations.</a:t>
            </a:r>
          </a:p>
          <a:p>
            <a:pPr algn="l" marL="518163" indent="-259082" lvl="1">
              <a:lnSpc>
                <a:spcPts val="4080"/>
              </a:lnSpc>
              <a:buFont typeface="Arial"/>
              <a:buChar char="•"/>
            </a:pPr>
            <a:r>
              <a:rPr lang="en-US" b="true" sz="2400" spc="-24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Training: </a:t>
            </a:r>
            <a:r>
              <a:rPr lang="en-US" sz="2400" spc="-24">
                <a:solidFill>
                  <a:srgbClr val="C4DFAA"/>
                </a:solidFill>
                <a:latin typeface="Telegraf"/>
                <a:ea typeface="Telegraf"/>
                <a:cs typeface="Telegraf"/>
                <a:sym typeface="Telegraf"/>
              </a:rPr>
              <a:t>5-fold CV on train; all fit ~10s full; predictions expm1 to original scale.</a:t>
            </a:r>
          </a:p>
          <a:p>
            <a:pPr algn="l" marL="0" indent="0" lvl="0">
              <a:lnSpc>
                <a:spcPts val="40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34525" y="701675"/>
            <a:ext cx="7848600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ls and Training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C4DF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678404" y="2322218"/>
            <a:ext cx="9942846" cy="5642565"/>
          </a:xfrm>
          <a:custGeom>
            <a:avLst/>
            <a:gdLst/>
            <a:ahLst/>
            <a:cxnLst/>
            <a:rect r="r" b="b" t="t" l="l"/>
            <a:pathLst>
              <a:path h="5642565" w="9942846">
                <a:moveTo>
                  <a:pt x="0" y="0"/>
                </a:moveTo>
                <a:lnTo>
                  <a:pt x="9942846" y="0"/>
                </a:lnTo>
                <a:lnTo>
                  <a:pt x="9942846" y="5642564"/>
                </a:lnTo>
                <a:lnTo>
                  <a:pt x="0" y="5642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6750" y="5143500"/>
            <a:ext cx="6667517" cy="3725475"/>
          </a:xfrm>
          <a:custGeom>
            <a:avLst/>
            <a:gdLst/>
            <a:ahLst/>
            <a:cxnLst/>
            <a:rect r="r" b="b" t="t" l="l"/>
            <a:pathLst>
              <a:path h="3725475" w="6667517">
                <a:moveTo>
                  <a:pt x="0" y="0"/>
                </a:moveTo>
                <a:lnTo>
                  <a:pt x="6667517" y="0"/>
                </a:lnTo>
                <a:lnTo>
                  <a:pt x="6667517" y="3725475"/>
                </a:lnTo>
                <a:lnTo>
                  <a:pt x="0" y="3725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8777" y="2895600"/>
            <a:ext cx="6067425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b="true" sz="3000" spc="-30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 Set (1024 rows, Original Scale): Decision Tree best (Mean R² 88.08%); errors low for practical HR use.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696913"/>
            <a:ext cx="6693694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ormance Metrics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C4DF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35842" y="2246936"/>
            <a:ext cx="9385408" cy="3777627"/>
          </a:xfrm>
          <a:custGeom>
            <a:avLst/>
            <a:gdLst/>
            <a:ahLst/>
            <a:cxnLst/>
            <a:rect r="r" b="b" t="t" l="l"/>
            <a:pathLst>
              <a:path h="3777627" w="9385408">
                <a:moveTo>
                  <a:pt x="0" y="0"/>
                </a:moveTo>
                <a:lnTo>
                  <a:pt x="9385408" y="0"/>
                </a:lnTo>
                <a:lnTo>
                  <a:pt x="9385408" y="3777626"/>
                </a:lnTo>
                <a:lnTo>
                  <a:pt x="0" y="3777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5842" y="6247436"/>
            <a:ext cx="9385408" cy="3742431"/>
          </a:xfrm>
          <a:custGeom>
            <a:avLst/>
            <a:gdLst/>
            <a:ahLst/>
            <a:cxnLst/>
            <a:rect r="r" b="b" t="t" l="l"/>
            <a:pathLst>
              <a:path h="3742431" w="9385408">
                <a:moveTo>
                  <a:pt x="0" y="0"/>
                </a:moveTo>
                <a:lnTo>
                  <a:pt x="9385408" y="0"/>
                </a:lnTo>
                <a:lnTo>
                  <a:pt x="9385408" y="3742431"/>
                </a:lnTo>
                <a:lnTo>
                  <a:pt x="0" y="3742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7729" y="3262312"/>
            <a:ext cx="6805612" cy="55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b="true" sz="3000" spc="-3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Pr</a:t>
            </a:r>
            <a:r>
              <a:rPr lang="en-US" b="true" sz="3000" spc="-3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ed vs. Actual:</a:t>
            </a:r>
            <a:r>
              <a:rPr lang="en-US" b="true" sz="3000" spc="-30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 Strong alignment (scatters near diagonal); R²_From 0.85, R²_To 0.91; minor underprediction &lt;$30k Entry roles.</a:t>
            </a:r>
          </a:p>
          <a:p>
            <a:pPr algn="l">
              <a:lnSpc>
                <a:spcPts val="3300"/>
              </a:lnSpc>
            </a:pP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b="true" sz="3000" spc="-30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Residuals Analysis: </a:t>
            </a:r>
            <a:r>
              <a:rPr lang="en-US" b="true" sz="3000" spc="-30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Low bias overall (homoscedastic); slight heteroscedasticity high-end (&gt;$150k seniors underpredicted ~$10k); no major agency disparities.</a:t>
            </a:r>
          </a:p>
          <a:p>
            <a:pPr algn="l">
              <a:lnSpc>
                <a:spcPts val="33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19175"/>
            <a:ext cx="9234488" cy="301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Results - Predicti</a:t>
            </a: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ons and Residuals</a:t>
            </a:r>
          </a:p>
          <a:p>
            <a:pPr algn="l" marL="0" indent="0" lvl="0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A9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5F0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C4DF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843212"/>
            <a:ext cx="12409969" cy="356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B</a:t>
            </a: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 Model:</a:t>
            </a:r>
            <a:r>
              <a:rPr lang="en-US" b="true" sz="2295" spc="-22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 Decision Tree (Mean R² 88.08%; joint multi-output; simple/interpretable).</a:t>
            </a:r>
          </a:p>
          <a:p>
            <a:pPr algn="l">
              <a:lnSpc>
                <a:spcPts val="2525"/>
              </a:lnSpc>
            </a:pPr>
          </a:p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Artifacts Saved:</a:t>
            </a:r>
          </a:p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fitted_preprocessor.pkl:</a:t>
            </a:r>
            <a:r>
              <a:rPr lang="en-US" b="true" sz="2295" spc="-22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 Raw X (28 cols) → 50 features (TargetEncoder on high-card w/ 1D y_mean).</a:t>
            </a:r>
          </a:p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fitt</a:t>
            </a: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ed_model_decision_tree.pkl: </a:t>
            </a:r>
            <a:r>
              <a:rPr lang="en-US" b="true" sz="2295" spc="-22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Fits transformed X to 2D y.</a:t>
            </a:r>
          </a:p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predict_salary_range(raw_X): </a:t>
            </a:r>
            <a:r>
              <a:rPr lang="en-US" b="true" sz="2295" spc="-22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Wrapper loads → transform → predict (expm1) → DF (e.g., Min/Max cols); verifies matches.</a:t>
            </a:r>
          </a:p>
          <a:p>
            <a:pPr algn="l">
              <a:lnSpc>
                <a:spcPts val="2525"/>
              </a:lnSpc>
            </a:pPr>
          </a:p>
          <a:p>
            <a:pPr algn="l" marL="495654" indent="-247827" lvl="1">
              <a:lnSpc>
                <a:spcPts val="2525"/>
              </a:lnSpc>
              <a:buFont typeface="Arial"/>
              <a:buChar char="•"/>
            </a:pPr>
            <a:r>
              <a:rPr lang="en-US" b="true" sz="2295" spc="-22">
                <a:solidFill>
                  <a:srgbClr val="007ACC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Deployment: </a:t>
            </a:r>
            <a:r>
              <a:rPr lang="en-US" b="true" sz="2295" spc="-22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Ready for API/Excel; quarterly retrain (drift in postings).</a:t>
            </a:r>
          </a:p>
          <a:p>
            <a:pPr algn="l">
              <a:lnSpc>
                <a:spcPts val="252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985804" y="6338938"/>
            <a:ext cx="10316393" cy="2919362"/>
          </a:xfrm>
          <a:custGeom>
            <a:avLst/>
            <a:gdLst/>
            <a:ahLst/>
            <a:cxnLst/>
            <a:rect r="r" b="b" t="t" l="l"/>
            <a:pathLst>
              <a:path h="2919362" w="10316393">
                <a:moveTo>
                  <a:pt x="0" y="0"/>
                </a:moveTo>
                <a:lnTo>
                  <a:pt x="10316392" y="0"/>
                </a:lnTo>
                <a:lnTo>
                  <a:pt x="10316392" y="2919362"/>
                </a:lnTo>
                <a:lnTo>
                  <a:pt x="0" y="2919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8754" y="638175"/>
            <a:ext cx="12449175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F5F0BB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 Selection, Artifacts, and Next Steps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758673" cy="1215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673" cy="1215678"/>
            </a:xfrm>
            <a:custGeom>
              <a:avLst/>
              <a:gdLst/>
              <a:ahLst/>
              <a:cxnLst/>
              <a:rect r="r" b="b" t="t" l="l"/>
              <a:pathLst>
                <a:path h="1215678" w="758673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l="-70253" t="0" r="-7025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15312" y="4603750"/>
            <a:ext cx="8324850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Th</a:t>
            </a:r>
            <a:r>
              <a:rPr lang="en-US" b="true" sz="6999" spc="-69">
                <a:solidFill>
                  <a:srgbClr val="1A1A1A"/>
                </a:solidFill>
                <a:latin typeface="Telegraf Bold"/>
                <a:ea typeface="Telegraf Bold"/>
                <a:cs typeface="Telegraf Bold"/>
                <a:sym typeface="Telegraf Bold"/>
              </a:rPr>
              <a:t>ank You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2375" y="7880144"/>
            <a:ext cx="83248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-30">
                <a:solidFill>
                  <a:srgbClr val="555555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Reach out for Q&amp;A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572375" y="8356394"/>
            <a:ext cx="5753100" cy="901906"/>
            <a:chOff x="0" y="0"/>
            <a:chExt cx="7670800" cy="120254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7670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pc="-30" strike="noStrike" u="none">
                  <a:solidFill>
                    <a:srgbClr val="55555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Email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24175"/>
              <a:ext cx="7670800" cy="4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555555"/>
                  </a:solidFill>
                  <a:latin typeface="Telegraf"/>
                  <a:ea typeface="Telegraf"/>
                  <a:cs typeface="Telegraf"/>
                  <a:sym typeface="Telegraf"/>
                </a:rPr>
                <a:t>Uraj757@gmail.com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Job Salary Range Prediction</dc:description>
  <dc:identifier>DAG2ja3Mlfw</dc:identifier>
  <dcterms:modified xsi:type="dcterms:W3CDTF">2011-08-01T06:04:30Z</dcterms:modified>
  <cp:revision>1</cp:revision>
  <dc:title>PPT_Job Salary Range Prediction</dc:title>
</cp:coreProperties>
</file>